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Proxima Nova" panose="02000506030000020004"/>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howGuides="1">
      <p:cViewPr varScale="1">
        <p:scale>
          <a:sx n="142" d="100"/>
          <a:sy n="142" d="100"/>
        </p:scale>
        <p:origin x="192" y="3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project implements a complete Retrieval-Augmented Generation system designed for efficient document processing and intelligent query answering. We start with a high-level view of how the application connects data ingestion, embedding, search, and generation.</a:t>
            </a:r>
          </a:p>
          <a:p/>
          <a:p>
            <a:r>
              <a:t>The primary goal is to empower users to retrieve precise, contextually relevant information from large document repositories. Azure Document Intelligence plays a crucial role by extracting structured data and metadata before we embed text representations into a PostgreSQL vector database.</a:t>
            </a:r>
          </a:p>
          <a:p/>
          <a:p>
            <a:r>
              <a:t>The frontend is built in Angular, ensuring a smooth and responsive interface for users to submit queries and receive intelligent responses powered by an LLM. The following slides will explore each part of this architecture in more detail.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ingestion pipeline is the foundation of the RAG system—it’s how raw, unstructured data becomes usable intelligence. Think of it as the 'plumbing' that ensures data flows cleanly into your knowledge engine.</a:t>
            </a:r>
          </a:p>
          <a:p/>
          <a:p>
            <a:r>
              <a:t>Documents from different sources—whether scanned contracts, reports, or PDFs—are uploaded into the system. These files go through preprocessing to clean text and normalize formats so that they’re ready for analysis.</a:t>
            </a:r>
          </a:p>
          <a:p/>
          <a:p>
            <a:r>
              <a:t>Azure Document Intelligence is the star here: it reads and understands documents like a human analyst would, identifying fields, tables, and relationships. The output isn’t just text—it’s data enriched with metadata, ready for embedding and retrieval.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Azure Document Intelligence is the brain that makes the ingestion pipeline smart. Think of it as the 'Mario power-up' moment—where plain documents transform into structured, AI-readable data.</a:t>
            </a:r>
          </a:p>
          <a:p/>
          <a:p>
            <a:r>
              <a:t>Using advanced vision and language models, it identifies text blocks, tables, and semantic structure in complex files. Whether it's a scanned contract or a detailed report, the system captures key information accurately.</a:t>
            </a:r>
          </a:p>
          <a:p/>
          <a:p>
            <a:r>
              <a:t>This stage ensures that what goes into your RAG pipeline isn't just text, but high-quality, semantically rich data. It’s the crucial bridge between raw input and meaningful retrieval later in the workflow.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this stage, raw intelligence transforms into mathematics. Each sentence or paragraph becomes a vector—a long list of numbers that encode its meaning. Imagine compressing the essence of a paragraph into coordinates on a multidimensional map.</a:t>
            </a:r>
          </a:p>
          <a:p/>
          <a:p>
            <a:r>
              <a:t>Using powerful embedding models, we create representations where similar ideas cluster together. This allows the system to find 'conceptual neighbors' instead of just matching keywords.</a:t>
            </a:r>
          </a:p>
          <a:p/>
          <a:p>
            <a:r>
              <a:t>PostgreSQL’s vector capabilities make it possible to perform lightning-fast similarity searches. The result? A database that understands context, not just text—a vital building block for meaningful AI retrieval.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where the magic of RAG truly shines. When a user submits a query, we don’t look for keyword matches—we look for meaning. The system translates the question into a vector, just like we did for our documents.</a:t>
            </a:r>
          </a:p>
          <a:p/>
          <a:p>
            <a:r>
              <a:t>It then searches the vector database using similarity metrics—essentially asking: *which pieces of stored knowledge are closest in meaning to this question?* This results in the top five most relevant document chunks.</a:t>
            </a:r>
          </a:p>
          <a:p/>
          <a:p>
            <a:r>
              <a:t>By working on a conceptual level, not just a textual one, the RAG pipeline retrieves insights that truly understand user intent. This is what makes semantic search so powerful and why it’s central to modern AI-driven knowledge systems.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where your RAG system truly comes to life. Once the top five relevant document chunks are identified, they’re fed into the Large Language Model alongside the user’s query.</a:t>
            </a:r>
          </a:p>
          <a:p/>
          <a:p>
            <a:r>
              <a:t>The LLM acts like a brilliant assistant—it doesn’t just retrieve; it reasons. It interprets the query, reads the supporting material, and constructs a fluent, evidence-backed answer. Because the knowledge is grounded in real documents, it drastically reduces the risk of hallucination.</a:t>
            </a:r>
          </a:p>
          <a:p/>
          <a:p>
            <a:r>
              <a:t>The result is a response that’s not only intelligent but also trustworthy. Whether the user asks for summaries, explanations, or deep insights, the model adapts dynamically—delivering answers that make sense and build confidence in AI-assisted search.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frontend is where your users meet the power of AI. Built in Angular, it delivers a clean and intuitive experience—allowing anyone to query vast document repositories naturally.</a:t>
            </a:r>
          </a:p>
          <a:p/>
          <a:p>
            <a:r>
              <a:t>When a user asks a question, the app communicates with the backend in real time. The RAG system retrieves, reasons, and responds in seconds, with the frontend displaying results conversationally, much like a smart chat assistant.</a:t>
            </a:r>
          </a:p>
          <a:p/>
          <a:p>
            <a:r>
              <a:t>By surfacing contextual data and linking responses to their source documents, users gain confidence in the AI’s transparency. And because Angular is modular, the platform can evolve—adding dashboards, analytics, or new Azure AI integrations without disruption.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how the entire RAG pipeline connects—from raw data to real-time insights. Each component plays a unique role, but together they form a seamless AI ecosystem.</a:t>
            </a:r>
          </a:p>
          <a:p/>
          <a:p>
            <a:r>
              <a:t>Documents begin their journey through Azure Document Intelligence, where they’re decoded into structured information. That information is transformed into embeddings and stored in PostgreSQL for semantic search.</a:t>
            </a:r>
          </a:p>
          <a:p/>
          <a:p>
            <a:r>
              <a:t>When a user interacts through the Angular frontend, their question triggers a cascade: embedding, retrieval, reasoning, and response—all happening in seconds. The architecture’s modular design means you can swap models, scale databases, or add features without breaking the flow.</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 we look ahead, the RAG system offers exciting opportunities for enhancement. By fine-tuning models, integrating multimodal capabilities, and optimizing retrieval, we can push both accuracy and performance to new heights.</a:t>
            </a:r>
          </a:p>
          <a:p/>
          <a:p>
            <a:r>
              <a:t>Future versions could support richer media—analyzing charts, PDFs with tables, or even spoken queries. Enterprise-scale deployment on Azure ensures stability, governance, and scalability for real-world use.</a:t>
            </a:r>
          </a:p>
          <a:p/>
          <a:p>
            <a:r>
              <a:t>Finally, a sincere thank you to our leadership and technical teams whose vision and support made this project possible. Their guidance transformed an idea into a fully operational, intelligent application that represents the future of AI-driven information systems.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matchingName="Section header">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matchingName="Agenda">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
        <p:nvSpPr>
          <p:cNvPr id="10" name="Subtitle 1"/>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1pPr>
            <a:lvl2pPr lvl="1">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2pPr>
            <a:lvl3pPr lvl="2">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3pPr>
            <a:lvl4pPr lvl="3">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4pPr>
            <a:lvl5pPr lvl="4">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5pPr>
            <a:lvl6pPr lvl="5">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6pPr>
            <a:lvl7pPr lvl="6">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7pPr>
            <a:lvl8pPr lvl="7">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8pPr>
            <a:lvl9pPr lvl="8">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panose="02000506030000020004"/>
              <a:buChar char="●"/>
              <a:defRPr sz="1800">
                <a:solidFill>
                  <a:schemeClr val="accent3"/>
                </a:solidFill>
                <a:latin typeface="Proxima Nova" panose="02000506030000020004"/>
                <a:ea typeface="Proxima Nova" panose="02000506030000020004"/>
                <a:cs typeface="Proxima Nova" panose="02000506030000020004"/>
                <a:sym typeface="Proxima Nova" panose="02000506030000020004"/>
              </a:defRPr>
            </a:lvl1pPr>
            <a:lvl2pPr marL="914400" lvl="1"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2pPr>
            <a:lvl3pPr marL="1371600" lvl="2"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3pPr>
            <a:lvl4pPr marL="1828800" lvl="3"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4pPr>
            <a:lvl5pPr marL="2286000" lvl="4"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5pPr>
            <a:lvl6pPr marL="2743200" lvl="5"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6pPr>
            <a:lvl7pPr marL="3200400" lvl="6"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7pPr>
            <a:lvl8pPr marL="3657600" lvl="7"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8pPr>
            <a:lvl9pPr marL="4114800" lvl="8"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1pPr>
            <a:lvl2pPr lvl="1"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2pPr>
            <a:lvl3pPr lvl="2"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3pPr>
            <a:lvl4pPr lvl="3"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4pPr>
            <a:lvl5pPr lvl="4"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5pPr>
            <a:lvl6pPr lvl="5"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6pPr>
            <a:lvl7pPr lvl="6"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7pPr>
            <a:lvl8pPr lvl="7"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8pPr>
            <a:lvl9pPr lvl="8"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4.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Introduction to the </a:t>
            </a:r>
            <a:r>
              <a:rPr lang="en-IN"/>
              <a:t>AEIS </a:t>
            </a:r>
            <a:r>
              <a:t>RAG Application</a:t>
            </a:r>
          </a:p>
        </p:txBody>
      </p:sp>
      <p:sp>
        <p:nvSpPr>
          <p:cNvPr id="4" name="Subtitle 3"/>
          <p:cNvSpPr>
            <a:spLocks noGrp="1"/>
          </p:cNvSpPr>
          <p:nvPr>
            <p:ph type="subTitle" idx="13"/>
          </p:nvPr>
        </p:nvSpPr>
        <p:spPr>
          <a:xfrm>
            <a:off x="319319" y="735786"/>
            <a:ext cx="8520599" cy="481810"/>
          </a:xfrm>
        </p:spPr>
        <p:txBody>
          <a:bodyPr>
            <a:normAutofit/>
          </a:bodyPr>
          <a:lstStyle/>
          <a:p>
            <a:r>
              <a:t>Building Intelligent Search and Response Systems with Azure &amp; Vector Databases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616161"/>
                </a:solidFill>
                <a:latin typeface="Proxima Nova" panose="02000506030000020004"/>
              </a:defRPr>
            </a:pPr>
          </a:p>
        </p:txBody>
      </p:sp>
      <p:sp>
        <p:nvSpPr>
          <p:cNvPr id="7" name="Rectangle 6"/>
          <p:cNvSpPr/>
          <p:nvPr/>
        </p:nvSpPr>
        <p:spPr>
          <a:xfrm>
            <a:off x="228600" y="1508670"/>
            <a:ext cx="8686800"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508670"/>
            <a:ext cx="4190999" cy="3127176"/>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89000"/>
              <a:buFont typeface="Arial" panose="020B0604020202020204"/>
              <a:buChar char="•"/>
            </a:pPr>
            <a:r>
              <a:rPr sz="1100" b="1" i="0">
                <a:solidFill>
                  <a:srgbClr val="616161"/>
                </a:solidFill>
                <a:latin typeface="Proxima Nova" panose="02000506030000020004"/>
              </a:rPr>
              <a:t>Purpose of the Application:</a:t>
            </a:r>
            <a:r>
              <a:rPr sz="1100" b="0" i="0">
                <a:solidFill>
                  <a:srgbClr val="616161"/>
                </a:solidFill>
                <a:latin typeface="Proxima Nova" panose="02000506030000020004"/>
              </a:rPr>
              <a:t> The Retrieval-Augmented Generation (RAG) application enhances document-based information retrieval and response generation using Azure AI and vector databases.</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Core Workflow:</a:t>
            </a:r>
            <a:r>
              <a:rPr sz="1100" b="0" i="0">
                <a:solidFill>
                  <a:srgbClr val="616161"/>
                </a:solidFill>
                <a:latin typeface="Proxima Nova" panose="02000506030000020004"/>
              </a:rPr>
              <a:t> Documents are ingested, processed by Azure Document Intelligence, embedded into a vector database, and queried semantically to provide contextual LLM responses.</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Key Technologies:</a:t>
            </a:r>
            <a:r>
              <a:rPr sz="1100" b="0" i="0">
                <a:solidFill>
                  <a:srgbClr val="616161"/>
                </a:solidFill>
                <a:latin typeface="Proxima Nova" panose="02000506030000020004"/>
              </a:rPr>
              <a:t> Azure Document Intelligence, PostgreSQL with vector extensions, text embedding models, OpenAI LLMs, and Angular frontend integration.</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End-User Experience:</a:t>
            </a:r>
            <a:r>
              <a:rPr sz="1100" b="0" i="0">
                <a:solidFill>
                  <a:srgbClr val="616161"/>
                </a:solidFill>
                <a:latin typeface="Proxima Nova" panose="02000506030000020004"/>
              </a:rPr>
              <a:t> Users interact through an Angular app that allows querying documents and receiving intelligent, context-aware responses in real time.</a:t>
            </a:r>
            <a:endParaRPr sz="1100" b="0" i="0">
              <a:solidFill>
                <a:srgbClr val="616161"/>
              </a:solidFill>
              <a:latin typeface="Proxima Nova" panose="02000506030000020004"/>
            </a:endParaRPr>
          </a:p>
        </p:txBody>
      </p:sp>
      <p:sp>
        <p:nvSpPr>
          <p:cNvPr id="10" name="Rectangle 9"/>
          <p:cNvSpPr/>
          <p:nvPr/>
        </p:nvSpPr>
        <p:spPr>
          <a:xfrm>
            <a:off x="4724400" y="1508670"/>
            <a:ext cx="4190999"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pic>
        <p:nvPicPr>
          <p:cNvPr id="12" name="Picture 11" descr="tmp7ene2tdl.png"/>
          <p:cNvPicPr>
            <a:picLocks noChangeAspect="1"/>
          </p:cNvPicPr>
          <p:nvPr/>
        </p:nvPicPr>
        <p:blipFill>
          <a:blip r:embed="rId1"/>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4400" y="3947070"/>
            <a:ext cx="4190999" cy="138430"/>
          </a:xfrm>
          <a:prstGeom prst="rect">
            <a:avLst/>
          </a:prstGeom>
          <a:noFill/>
          <a:ln>
            <a:noFill/>
          </a:ln>
        </p:spPr>
        <p:txBody>
          <a:bodyPr wrap="square" lIns="0" tIns="0" rIns="0" bIns="0" anchor="t">
            <a:spAutoFit/>
          </a:bodyPr>
          <a:lstStyle/>
          <a:p>
            <a:pPr algn="r">
              <a:spcAft>
                <a:spcPts val="1200"/>
              </a:spcAft>
            </a:pPr>
            <a:endParaRPr sz="900" b="0" i="0">
              <a:solidFill>
                <a:srgbClr val="616161"/>
              </a:solidFill>
              <a:latin typeface="Proxima Nova" panose="0200050603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Document Ingestion Pipeline</a:t>
            </a:r>
          </a:p>
        </p:txBody>
      </p:sp>
      <p:sp>
        <p:nvSpPr>
          <p:cNvPr id="4" name="Subtitle 3"/>
          <p:cNvSpPr>
            <a:spLocks noGrp="1"/>
          </p:cNvSpPr>
          <p:nvPr>
            <p:ph type="subTitle" idx="13"/>
          </p:nvPr>
        </p:nvSpPr>
        <p:spPr/>
        <p:txBody>
          <a:bodyPr>
            <a:normAutofit/>
          </a:bodyPr>
          <a:lstStyle/>
          <a:p>
            <a:r>
              <a:t>Transforming Raw Files into Searchable Knowledge</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b="0" i="0">
                <a:solidFill>
                  <a:srgbClr val="616161"/>
                </a:solidFill>
                <a:latin typeface="Proxima Nova" panose="02000506030000020004"/>
              </a:defRPr>
            </a:pPr>
          </a:p>
        </p:txBody>
      </p:sp>
      <p:sp>
        <p:nvSpPr>
          <p:cNvPr id="7" name="Rectangle 6"/>
          <p:cNvSpPr/>
          <p:nvPr/>
        </p:nvSpPr>
        <p:spPr>
          <a:xfrm>
            <a:off x="228600" y="1508670"/>
            <a:ext cx="8686800" cy="30235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30235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508670"/>
            <a:ext cx="4190999" cy="3023592"/>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89000"/>
              <a:buFont typeface="Arial" panose="020B0604020202020204"/>
              <a:buChar char="•"/>
            </a:pPr>
            <a:r>
              <a:rPr sz="1200" b="1" i="0">
                <a:solidFill>
                  <a:srgbClr val="616161"/>
                </a:solidFill>
                <a:latin typeface="Proxima Nova" panose="02000506030000020004"/>
              </a:rPr>
              <a:t>Document Upload and Intake:</a:t>
            </a:r>
            <a:r>
              <a:rPr sz="1200" b="0" i="0">
                <a:solidFill>
                  <a:srgbClr val="616161"/>
                </a:solidFill>
                <a:latin typeface="Proxima Nova" panose="02000506030000020004"/>
              </a:rPr>
              <a:t> Users or systems upload raw documents—PDFs, Word files, scanned images—which serve as the knowledge base for the RAG system.</a:t>
            </a:r>
            <a:endParaRPr sz="12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200" b="1" i="0">
                <a:solidFill>
                  <a:srgbClr val="616161"/>
                </a:solidFill>
                <a:latin typeface="Proxima Nova" panose="02000506030000020004"/>
              </a:rPr>
              <a:t>Preprocessing and Formatting:</a:t>
            </a:r>
            <a:r>
              <a:rPr sz="1200" b="0" i="0">
                <a:solidFill>
                  <a:srgbClr val="616161"/>
                </a:solidFill>
                <a:latin typeface="Proxima Nova" panose="02000506030000020004"/>
              </a:rPr>
              <a:t> Each document is cleaned, standardized, and converted into a structured format that enables consistent downstream processing.</a:t>
            </a:r>
            <a:endParaRPr sz="12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200" b="1" i="0">
                <a:solidFill>
                  <a:srgbClr val="616161"/>
                </a:solidFill>
                <a:latin typeface="Proxima Nova" panose="02000506030000020004"/>
              </a:rPr>
              <a:t>Metadata Enrichment:</a:t>
            </a:r>
            <a:r>
              <a:rPr sz="1200" b="0" i="0">
                <a:solidFill>
                  <a:srgbClr val="616161"/>
                </a:solidFill>
                <a:latin typeface="Proxima Nova" panose="02000506030000020004"/>
              </a:rPr>
              <a:t> Key attributes such as document title, author, date, and category are extracted and stored to support intelligent filtering and retrieval.</a:t>
            </a:r>
            <a:endParaRPr sz="12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200" b="1" i="0">
                <a:solidFill>
                  <a:srgbClr val="616161"/>
                </a:solidFill>
                <a:latin typeface="Proxima Nova" panose="02000506030000020004"/>
              </a:rPr>
              <a:t>Integration with Azure Document Intelligence:</a:t>
            </a:r>
            <a:r>
              <a:rPr sz="1200" b="0" i="0">
                <a:solidFill>
                  <a:srgbClr val="616161"/>
                </a:solidFill>
                <a:latin typeface="Proxima Nova" panose="02000506030000020004"/>
              </a:rPr>
              <a:t> Documents are securely sent to Azure Document Intelligence for deep data extraction and analysis of content, layout, and context.</a:t>
            </a:r>
            <a:endParaRPr sz="1200" b="0" i="0">
              <a:solidFill>
                <a:srgbClr val="616161"/>
              </a:solidFill>
              <a:latin typeface="Proxima Nova" panose="02000506030000020004"/>
            </a:endParaRPr>
          </a:p>
        </p:txBody>
      </p:sp>
      <p:sp>
        <p:nvSpPr>
          <p:cNvPr id="10" name="Rectangle 9"/>
          <p:cNvSpPr/>
          <p:nvPr/>
        </p:nvSpPr>
        <p:spPr>
          <a:xfrm>
            <a:off x="4724400" y="1508670"/>
            <a:ext cx="4190999" cy="30235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pic>
        <p:nvPicPr>
          <p:cNvPr id="12" name="Picture 11" descr="tmp2n83tb9v.png"/>
          <p:cNvPicPr>
            <a:picLocks noChangeAspect="1"/>
          </p:cNvPicPr>
          <p:nvPr/>
        </p:nvPicPr>
        <p:blipFill>
          <a:blip r:embed="rId1"/>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Azure Document Intelligence Extraction</a:t>
            </a:r>
          </a:p>
        </p:txBody>
      </p:sp>
      <p:sp>
        <p:nvSpPr>
          <p:cNvPr id="4" name="Subtitle 3"/>
          <p:cNvSpPr>
            <a:spLocks noGrp="1"/>
          </p:cNvSpPr>
          <p:nvPr>
            <p:ph type="subTitle" idx="13"/>
          </p:nvPr>
        </p:nvSpPr>
        <p:spPr/>
        <p:txBody>
          <a:bodyPr>
            <a:normAutofit/>
          </a:bodyPr>
          <a:lstStyle/>
          <a:p>
            <a:r>
              <a:t>Teaching Machines to Read, Understand, and Structure Documents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616161"/>
                </a:solidFill>
                <a:latin typeface="Proxima Nova" panose="02000506030000020004"/>
              </a:defRPr>
            </a:pPr>
          </a:p>
        </p:txBody>
      </p:sp>
      <p:sp>
        <p:nvSpPr>
          <p:cNvPr id="7" name="Rectangle 6"/>
          <p:cNvSpPr/>
          <p:nvPr/>
        </p:nvSpPr>
        <p:spPr>
          <a:xfrm>
            <a:off x="228600" y="1508670"/>
            <a:ext cx="8686800"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508670"/>
            <a:ext cx="4190999" cy="3127176"/>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89000"/>
              <a:buFont typeface="Arial" panose="020B0604020202020204"/>
              <a:buChar char="•"/>
            </a:pPr>
            <a:r>
              <a:rPr sz="1100" b="1" i="0">
                <a:solidFill>
                  <a:srgbClr val="616161"/>
                </a:solidFill>
                <a:latin typeface="Proxima Nova" panose="02000506030000020004"/>
              </a:rPr>
              <a:t>AI-Powered Understanding:</a:t>
            </a:r>
            <a:r>
              <a:rPr sz="1100" b="0" i="0">
                <a:solidFill>
                  <a:srgbClr val="616161"/>
                </a:solidFill>
                <a:latin typeface="Proxima Nova" panose="02000506030000020004"/>
              </a:rPr>
              <a:t> Azure Document Intelligence uses pre-trained AI models to interpret documents just like a human reader—detecting layout, tables, handwriting, and contextual relationships.</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Structured Data Extraction:</a:t>
            </a:r>
            <a:r>
              <a:rPr sz="1100" b="0" i="0">
                <a:solidFill>
                  <a:srgbClr val="616161"/>
                </a:solidFill>
                <a:latin typeface="Proxima Nova" panose="02000506030000020004"/>
              </a:rPr>
              <a:t> Instead of raw text, it extracts key-value pairs, entities, and metadata, converting unstructured files into usable, structured information.</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Support for Complex Formats:</a:t>
            </a:r>
            <a:r>
              <a:rPr sz="1100" b="0" i="0">
                <a:solidFill>
                  <a:srgbClr val="616161"/>
                </a:solidFill>
                <a:latin typeface="Proxima Nova" panose="02000506030000020004"/>
              </a:rPr>
              <a:t> From invoices and contracts to scanned images, it handles diverse document types through form recognizers and custom models.</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Bridge to the RAG Pipeline:</a:t>
            </a:r>
            <a:r>
              <a:rPr sz="1100" b="0" i="0">
                <a:solidFill>
                  <a:srgbClr val="616161"/>
                </a:solidFill>
                <a:latin typeface="Proxima Nova" panose="02000506030000020004"/>
              </a:rPr>
              <a:t> The extracted data and metadata become the input for the embedding stage—ensuring that only meaningful information enters the vector database.</a:t>
            </a:r>
            <a:endParaRPr sz="1100" b="0" i="0">
              <a:solidFill>
                <a:srgbClr val="616161"/>
              </a:solidFill>
              <a:latin typeface="Proxima Nova" panose="02000506030000020004"/>
            </a:endParaRPr>
          </a:p>
        </p:txBody>
      </p:sp>
      <p:sp>
        <p:nvSpPr>
          <p:cNvPr id="10" name="Rectangle 9"/>
          <p:cNvSpPr/>
          <p:nvPr/>
        </p:nvSpPr>
        <p:spPr>
          <a:xfrm>
            <a:off x="4724400" y="1508670"/>
            <a:ext cx="4190999"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pic>
        <p:nvPicPr>
          <p:cNvPr id="12" name="Picture 11" descr="tmps_9y204s.png"/>
          <p:cNvPicPr>
            <a:picLocks noChangeAspect="1"/>
          </p:cNvPicPr>
          <p:nvPr/>
        </p:nvPicPr>
        <p:blipFill>
          <a:blip r:embed="rId1"/>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4400" y="3947070"/>
            <a:ext cx="4190999" cy="138430"/>
          </a:xfrm>
          <a:prstGeom prst="rect">
            <a:avLst/>
          </a:prstGeom>
          <a:noFill/>
          <a:ln>
            <a:noFill/>
          </a:ln>
        </p:spPr>
        <p:txBody>
          <a:bodyPr wrap="square" lIns="0" tIns="0" rIns="0" bIns="0" anchor="t">
            <a:spAutoFit/>
          </a:bodyPr>
          <a:lstStyle/>
          <a:p>
            <a:pPr algn="r">
              <a:spcAft>
                <a:spcPts val="1200"/>
              </a:spcAft>
            </a:pPr>
            <a:endParaRPr sz="900" b="0" i="0">
              <a:solidFill>
                <a:srgbClr val="616161"/>
              </a:solidFill>
              <a:latin typeface="Proxima Nova" panose="0200050603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Embedding Generation and Vector Storage</a:t>
            </a:r>
          </a:p>
        </p:txBody>
      </p:sp>
      <p:sp>
        <p:nvSpPr>
          <p:cNvPr id="4" name="Subtitle 3"/>
          <p:cNvSpPr>
            <a:spLocks noGrp="1"/>
          </p:cNvSpPr>
          <p:nvPr>
            <p:ph type="subTitle" idx="13"/>
          </p:nvPr>
        </p:nvSpPr>
        <p:spPr/>
        <p:txBody>
          <a:bodyPr>
            <a:normAutofit/>
          </a:bodyPr>
          <a:lstStyle/>
          <a:p>
            <a:r>
              <a:t>Turning Knowledge into Searchable Mathematical Representations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616161"/>
                </a:solidFill>
                <a:latin typeface="Proxima Nova" panose="02000506030000020004"/>
              </a:defRPr>
            </a:pPr>
          </a:p>
        </p:txBody>
      </p:sp>
      <p:sp>
        <p:nvSpPr>
          <p:cNvPr id="7" name="Rectangle 6"/>
          <p:cNvSpPr/>
          <p:nvPr/>
        </p:nvSpPr>
        <p:spPr>
          <a:xfrm>
            <a:off x="228600" y="1508670"/>
            <a:ext cx="8686800" cy="27729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27729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508670"/>
            <a:ext cx="4190999" cy="2772965"/>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89000"/>
              <a:buFont typeface="Arial" panose="020B0604020202020204"/>
              <a:buChar char="•"/>
            </a:pPr>
            <a:r>
              <a:rPr sz="1100" b="1" i="0">
                <a:solidFill>
                  <a:srgbClr val="616161"/>
                </a:solidFill>
                <a:latin typeface="Proxima Nova" panose="02000506030000020004"/>
              </a:rPr>
              <a:t>Creating Embeddings:</a:t>
            </a:r>
            <a:r>
              <a:rPr sz="1100" b="0" i="0">
                <a:solidFill>
                  <a:srgbClr val="616161"/>
                </a:solidFill>
                <a:latin typeface="Proxima Nova" panose="02000506030000020004"/>
              </a:rPr>
              <a:t> Text embedding models convert document content into high-dimensional vectors—numerical fingerprints that capture meaning and context.</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Semantic Representation:</a:t>
            </a:r>
            <a:r>
              <a:rPr sz="1100" b="0" i="0">
                <a:solidFill>
                  <a:srgbClr val="616161"/>
                </a:solidFill>
                <a:latin typeface="Proxima Nova" panose="02000506030000020004"/>
              </a:rPr>
              <a:t> Similar meanings produce similar vectors, allowing the system to compare concepts beyond exact word matches.</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PostgreSQL Vector Database:</a:t>
            </a:r>
            <a:r>
              <a:rPr sz="1100" b="0" i="0">
                <a:solidFill>
                  <a:srgbClr val="616161"/>
                </a:solidFill>
                <a:latin typeface="Proxima Nova" panose="02000506030000020004"/>
              </a:rPr>
              <a:t> The embeddings are stored in a PostgreSQL vector database, enabling efficient semantic search through vector similarity queries.</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Foundation for Retrieval:</a:t>
            </a:r>
            <a:r>
              <a:rPr sz="1100" b="0" i="0">
                <a:solidFill>
                  <a:srgbClr val="616161"/>
                </a:solidFill>
                <a:latin typeface="Proxima Nova" panose="02000506030000020004"/>
              </a:rPr>
              <a:t> This step is the backbone of RAG—allowing queries to locate relevant chunks of knowledge based on semantic proximity, not keyword overlap.</a:t>
            </a:r>
            <a:endParaRPr sz="1100" b="0" i="0">
              <a:solidFill>
                <a:srgbClr val="616161"/>
              </a:solidFill>
              <a:latin typeface="Proxima Nova" panose="02000506030000020004"/>
            </a:endParaRPr>
          </a:p>
        </p:txBody>
      </p:sp>
      <p:sp>
        <p:nvSpPr>
          <p:cNvPr id="10" name="Rectangle 9"/>
          <p:cNvSpPr/>
          <p:nvPr/>
        </p:nvSpPr>
        <p:spPr>
          <a:xfrm>
            <a:off x="4724400" y="1508670"/>
            <a:ext cx="4190999" cy="27729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pic>
        <p:nvPicPr>
          <p:cNvPr id="12" name="Picture 11" descr="tmpoi891dmp.png"/>
          <p:cNvPicPr>
            <a:picLocks noChangeAspect="1"/>
          </p:cNvPicPr>
          <p:nvPr/>
        </p:nvPicPr>
        <p:blipFill>
          <a:blip r:embed="rId1"/>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Query Workflow and Semantic Search</a:t>
            </a:r>
          </a:p>
        </p:txBody>
      </p:sp>
      <p:sp>
        <p:nvSpPr>
          <p:cNvPr id="4" name="Subtitle 3"/>
          <p:cNvSpPr>
            <a:spLocks noGrp="1"/>
          </p:cNvSpPr>
          <p:nvPr>
            <p:ph type="subTitle" idx="13"/>
          </p:nvPr>
        </p:nvSpPr>
        <p:spPr/>
        <p:txBody>
          <a:bodyPr>
            <a:normAutofit/>
          </a:bodyPr>
          <a:lstStyle/>
          <a:p>
            <a:r>
              <a:t>Finding Meaning, Not Just Keywords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panose="02000506030000020004"/>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p>
        </p:txBody>
      </p:sp>
      <p:pic>
        <p:nvPicPr>
          <p:cNvPr id="12" name="Picture 11" descr="tmp1dxq9s7c.png"/>
          <p:cNvPicPr>
            <a:picLocks noChangeAspect="1"/>
          </p:cNvPicPr>
          <p:nvPr/>
        </p:nvPicPr>
        <p:blipFill>
          <a:blip r:embed="rId1"/>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User Query Processing</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When a user asks a question, the system converts it into an embedding vector—representing its semantic meaning.</a:t>
            </a:r>
            <a:endParaRPr sz="1300" b="0" i="0">
              <a:solidFill>
                <a:srgbClr val="616161"/>
              </a:solidFill>
              <a:latin typeface="Proxima Nova" panose="02000506030000020004"/>
            </a:endParaRP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p>
        </p:txBody>
      </p:sp>
      <p:pic>
        <p:nvPicPr>
          <p:cNvPr id="17" name="Picture 16" descr="tmpebqk0zjr.png"/>
          <p:cNvPicPr>
            <a:picLocks noChangeAspect="1"/>
          </p:cNvPicPr>
          <p:nvPr/>
        </p:nvPicPr>
        <p:blipFill>
          <a:blip r:embed="rId2"/>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Vector Similarity Search</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The query vector is compared against stored document vectors in the PostgreSQL database using cosine similarity to find the most related content.</a:t>
            </a:r>
            <a:endParaRPr sz="1300" b="0" i="0">
              <a:solidFill>
                <a:srgbClr val="616161"/>
              </a:solidFill>
              <a:latin typeface="Proxima Nova" panose="02000506030000020004"/>
            </a:endParaRP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p>
        </p:txBody>
      </p:sp>
      <p:pic>
        <p:nvPicPr>
          <p:cNvPr id="22" name="Picture 21" descr="tmply9_rvdy.png"/>
          <p:cNvPicPr>
            <a:picLocks noChangeAspect="1"/>
          </p:cNvPicPr>
          <p:nvPr/>
        </p:nvPicPr>
        <p:blipFill>
          <a:blip r:embed="rId3"/>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Top Results Retrieval</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The top five most semantically similar document chunks are fetched as evidence for the LLM to use in generating a precise answer.</a:t>
            </a:r>
            <a:endParaRPr sz="1300" b="0" i="0">
              <a:solidFill>
                <a:srgbClr val="616161"/>
              </a:solidFill>
              <a:latin typeface="Proxima Nova" panose="02000506030000020004"/>
            </a:endParaRP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p>
        </p:txBody>
      </p:sp>
      <p:pic>
        <p:nvPicPr>
          <p:cNvPr id="27" name="Picture 26" descr="tmp6wnm24od.png"/>
          <p:cNvPicPr>
            <a:picLocks noChangeAspect="1"/>
          </p:cNvPicPr>
          <p:nvPr/>
        </p:nvPicPr>
        <p:blipFill>
          <a:blip r:embed="rId4"/>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Contextual Accuracy</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This process ensures responses are contextually grounded, minimizing hallucinations and improving factual accuracy.</a:t>
            </a:r>
            <a:endParaRPr sz="1300" b="0" i="0">
              <a:solidFill>
                <a:srgbClr val="616161"/>
              </a:solidFill>
              <a:latin typeface="Proxima Nova" panose="020005060300000200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LLM Response Generation</a:t>
            </a:r>
          </a:p>
        </p:txBody>
      </p:sp>
      <p:sp>
        <p:nvSpPr>
          <p:cNvPr id="4" name="Subtitle 3"/>
          <p:cNvSpPr>
            <a:spLocks noGrp="1"/>
          </p:cNvSpPr>
          <p:nvPr>
            <p:ph type="subTitle" idx="13"/>
          </p:nvPr>
        </p:nvSpPr>
        <p:spPr/>
        <p:txBody>
          <a:bodyPr>
            <a:normAutofit/>
          </a:bodyPr>
          <a:lstStyle/>
          <a:p>
            <a:r>
              <a:t>Crafting Intelligent, Context-Aware Answers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panose="02000506030000020004"/>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p>
        </p:txBody>
      </p:sp>
      <p:pic>
        <p:nvPicPr>
          <p:cNvPr id="12" name="Picture 11" descr="tmpb5tl8_pk.png"/>
          <p:cNvPicPr>
            <a:picLocks noChangeAspect="1"/>
          </p:cNvPicPr>
          <p:nvPr/>
        </p:nvPicPr>
        <p:blipFill>
          <a:blip r:embed="rId1"/>
          <a:stretch>
            <a:fillRect/>
          </a:stretch>
        </p:blipFill>
        <p:spPr>
          <a:xfrm>
            <a:off x="2171700" y="1508670"/>
            <a:ext cx="304800" cy="304800"/>
          </a:xfrm>
          <a:prstGeom prst="rect">
            <a:avLst/>
          </a:prstGeom>
        </p:spPr>
      </p:pic>
      <p:sp>
        <p:nvSpPr>
          <p:cNvPr id="13" name="TextBox 12"/>
          <p:cNvSpPr txBox="1"/>
          <p:nvPr/>
        </p:nvSpPr>
        <p:spPr>
          <a:xfrm>
            <a:off x="228600" y="1965870"/>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Feeding Context to the LLM</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The top retrieved chunks from the vector database are combined with the user’s query and passed as context to the Large Language Model (LLM).</a:t>
            </a:r>
            <a:endParaRPr sz="1300" b="0" i="0">
              <a:solidFill>
                <a:srgbClr val="616161"/>
              </a:solidFill>
              <a:latin typeface="Proxima Nova" panose="02000506030000020004"/>
            </a:endParaRP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p>
        </p:txBody>
      </p:sp>
      <p:pic>
        <p:nvPicPr>
          <p:cNvPr id="17" name="Picture 16" descr="tmpodz3jmq5.png"/>
          <p:cNvPicPr>
            <a:picLocks noChangeAspect="1"/>
          </p:cNvPicPr>
          <p:nvPr/>
        </p:nvPicPr>
        <p:blipFill>
          <a:blip r:embed="rId2"/>
          <a:stretch>
            <a:fillRect/>
          </a:stretch>
        </p:blipFill>
        <p:spPr>
          <a:xfrm>
            <a:off x="6667500" y="1508670"/>
            <a:ext cx="304800" cy="304800"/>
          </a:xfrm>
          <a:prstGeom prst="rect">
            <a:avLst/>
          </a:prstGeom>
        </p:spPr>
      </p:pic>
      <p:sp>
        <p:nvSpPr>
          <p:cNvPr id="18" name="TextBox 17"/>
          <p:cNvSpPr txBox="1"/>
          <p:nvPr/>
        </p:nvSpPr>
        <p:spPr>
          <a:xfrm>
            <a:off x="4724400" y="1965870"/>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Contextual Reasoning</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The LLM analyzes both the query and retrieved data, generating coherent, evidence-based responses grounded in the original documents.</a:t>
            </a:r>
            <a:endParaRPr sz="1300" b="0" i="0">
              <a:solidFill>
                <a:srgbClr val="616161"/>
              </a:solidFill>
              <a:latin typeface="Proxima Nova" panose="02000506030000020004"/>
            </a:endParaRP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p>
        </p:txBody>
      </p:sp>
      <p:pic>
        <p:nvPicPr>
          <p:cNvPr id="22" name="Picture 21" descr="tmpo2yxfxje.png"/>
          <p:cNvPicPr>
            <a:picLocks noChangeAspect="1"/>
          </p:cNvPicPr>
          <p:nvPr/>
        </p:nvPicPr>
        <p:blipFill>
          <a:blip r:embed="rId3"/>
          <a:stretch>
            <a:fillRect/>
          </a:stretch>
        </p:blipFill>
        <p:spPr>
          <a:xfrm>
            <a:off x="2171700" y="3093392"/>
            <a:ext cx="304800" cy="304800"/>
          </a:xfrm>
          <a:prstGeom prst="rect">
            <a:avLst/>
          </a:prstGeom>
        </p:spPr>
      </p:pic>
      <p:sp>
        <p:nvSpPr>
          <p:cNvPr id="23" name="TextBox 22"/>
          <p:cNvSpPr txBox="1"/>
          <p:nvPr/>
        </p:nvSpPr>
        <p:spPr>
          <a:xfrm>
            <a:off x="2286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Minimizing Hallucinations</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By grounding responses in verified document chunks, the model avoids making unsupported claims and stays aligned with real data.</a:t>
            </a:r>
            <a:endParaRPr sz="1300" b="0" i="0">
              <a:solidFill>
                <a:srgbClr val="616161"/>
              </a:solidFill>
              <a:latin typeface="Proxima Nova" panose="02000506030000020004"/>
            </a:endParaRP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p>
        </p:txBody>
      </p:sp>
      <p:pic>
        <p:nvPicPr>
          <p:cNvPr id="27" name="Picture 26" descr="tmpur1zga3q.png"/>
          <p:cNvPicPr>
            <a:picLocks noChangeAspect="1"/>
          </p:cNvPicPr>
          <p:nvPr/>
        </p:nvPicPr>
        <p:blipFill>
          <a:blip r:embed="rId4"/>
          <a:stretch>
            <a:fillRect/>
          </a:stretch>
        </p:blipFill>
        <p:spPr>
          <a:xfrm>
            <a:off x="6667500" y="3093392"/>
            <a:ext cx="304800" cy="304800"/>
          </a:xfrm>
          <a:prstGeom prst="rect">
            <a:avLst/>
          </a:prstGeom>
        </p:spPr>
      </p:pic>
      <p:sp>
        <p:nvSpPr>
          <p:cNvPr id="28" name="TextBox 27"/>
          <p:cNvSpPr txBox="1"/>
          <p:nvPr/>
        </p:nvSpPr>
        <p:spPr>
          <a:xfrm>
            <a:off x="4724400" y="3550592"/>
            <a:ext cx="4190999" cy="205680"/>
          </a:xfrm>
          <a:prstGeom prst="rect">
            <a:avLst/>
          </a:prstGeom>
          <a:noFill/>
          <a:ln>
            <a:noFill/>
          </a:ln>
        </p:spPr>
        <p:txBody>
          <a:bodyPr wrap="square" lIns="0" tIns="0" rIns="0" bIns="0" anchor="t">
            <a:spAutoFit/>
          </a:bodyPr>
          <a:lstStyle/>
          <a:p>
            <a:pPr algn="ctr"/>
            <a:r>
              <a:rPr sz="1300" b="1" i="0">
                <a:solidFill>
                  <a:srgbClr val="616161"/>
                </a:solidFill>
                <a:latin typeface="Proxima Nova" panose="02000506030000020004"/>
              </a:rPr>
              <a:t>Adaptive Communication</a:t>
            </a:r>
            <a:endParaRPr sz="1300" b="1" i="0">
              <a:solidFill>
                <a:srgbClr val="616161"/>
              </a:solidFill>
              <a:latin typeface="Proxima Nova" panose="02000506030000020004"/>
            </a:endParaRPr>
          </a:p>
          <a:p>
            <a:pPr algn="ctr">
              <a:spcAft>
                <a:spcPts val="1200"/>
              </a:spcAft>
            </a:pPr>
            <a:r>
              <a:rPr sz="1300" b="0" i="0">
                <a:solidFill>
                  <a:srgbClr val="616161"/>
                </a:solidFill>
                <a:latin typeface="Proxima Nova" panose="02000506030000020004"/>
              </a:rPr>
              <a:t>The response is phrased naturally for users—summarizing, explaining, or detailing information depending on the intent and query type.</a:t>
            </a:r>
            <a:endParaRPr sz="1300" b="0" i="0">
              <a:solidFill>
                <a:srgbClr val="616161"/>
              </a:solidFill>
              <a:latin typeface="Proxima Nova" panose="020005060300000200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Frontend Integration: Angular App</a:t>
            </a:r>
          </a:p>
        </p:txBody>
      </p:sp>
      <p:sp>
        <p:nvSpPr>
          <p:cNvPr id="4" name="Subtitle 3"/>
          <p:cNvSpPr>
            <a:spLocks noGrp="1"/>
          </p:cNvSpPr>
          <p:nvPr>
            <p:ph type="subTitle" idx="13"/>
          </p:nvPr>
        </p:nvSpPr>
        <p:spPr/>
        <p:txBody>
          <a:bodyPr>
            <a:normAutofit/>
          </a:bodyPr>
          <a:lstStyle/>
          <a:p>
            <a:r>
              <a:t>Bringing AI-Powered Knowledge Retrieval to Users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616161"/>
                </a:solidFill>
                <a:latin typeface="Proxima Nova" panose="02000506030000020004"/>
              </a:defRPr>
            </a:pPr>
          </a:p>
        </p:txBody>
      </p:sp>
      <p:sp>
        <p:nvSpPr>
          <p:cNvPr id="7" name="Rectangle 6"/>
          <p:cNvSpPr/>
          <p:nvPr/>
        </p:nvSpPr>
        <p:spPr>
          <a:xfrm>
            <a:off x="228600" y="1508670"/>
            <a:ext cx="8686800" cy="295007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295007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508670"/>
            <a:ext cx="4190999" cy="2950071"/>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89000"/>
              <a:buFont typeface="Arial" panose="020B0604020202020204"/>
              <a:buChar char="•"/>
            </a:pPr>
            <a:r>
              <a:rPr sz="1100" b="1" i="0">
                <a:solidFill>
                  <a:srgbClr val="616161"/>
                </a:solidFill>
                <a:latin typeface="Proxima Nova" panose="02000506030000020004"/>
              </a:rPr>
              <a:t>Interactive User Experience:</a:t>
            </a:r>
            <a:r>
              <a:rPr sz="1100" b="0" i="0">
                <a:solidFill>
                  <a:srgbClr val="616161"/>
                </a:solidFill>
                <a:latin typeface="Proxima Nova" panose="02000506030000020004"/>
              </a:rPr>
              <a:t> The Angular frontend provides a sleek and responsive chat-like interface where users can ask questions and view AI-generated answers.</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Real-Time Communication:</a:t>
            </a:r>
            <a:r>
              <a:rPr sz="1100" b="0" i="0">
                <a:solidFill>
                  <a:srgbClr val="616161"/>
                </a:solidFill>
                <a:latin typeface="Proxima Nova" panose="02000506030000020004"/>
              </a:rPr>
              <a:t> Queries are sent via APIs to the RAG backend, which processes and returns responses almost instantly for a seamless user experience.</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Visualizing Context:</a:t>
            </a:r>
            <a:r>
              <a:rPr sz="1100" b="0" i="0">
                <a:solidFill>
                  <a:srgbClr val="616161"/>
                </a:solidFill>
                <a:latin typeface="Proxima Nova" panose="02000506030000020004"/>
              </a:rPr>
              <a:t> Results can include highlighted text, source document links, and visual summaries, giving users transparency into where answers come from.</a:t>
            </a:r>
            <a:endParaRPr sz="1100" b="0" i="0">
              <a:solidFill>
                <a:srgbClr val="616161"/>
              </a:solidFill>
              <a:latin typeface="Proxima Nova" panose="02000506030000020004"/>
            </a:endParaRPr>
          </a:p>
          <a:p>
            <a:pPr marL="228600" lvl="1" indent="-91440" algn="l">
              <a:spcBef>
                <a:spcPts val="1200"/>
              </a:spcBef>
              <a:spcAft>
                <a:spcPts val="0"/>
              </a:spcAft>
              <a:buSzPct val="89000"/>
              <a:buFont typeface="Arial" panose="020B0604020202020204"/>
              <a:buChar char="•"/>
            </a:pPr>
            <a:r>
              <a:rPr sz="1100" b="1" i="0">
                <a:solidFill>
                  <a:srgbClr val="616161"/>
                </a:solidFill>
                <a:latin typeface="Proxima Nova" panose="02000506030000020004"/>
              </a:rPr>
              <a:t>Scalable Web Architecture:</a:t>
            </a:r>
            <a:r>
              <a:rPr sz="1100" b="0" i="0">
                <a:solidFill>
                  <a:srgbClr val="616161"/>
                </a:solidFill>
                <a:latin typeface="Proxima Nova" panose="02000506030000020004"/>
              </a:rPr>
              <a:t> Built with Angular’s modular framework, the interface can easily integrate new AI features or connect with Azure services for enterprise scalability.</a:t>
            </a:r>
            <a:endParaRPr sz="1100" b="0" i="0">
              <a:solidFill>
                <a:srgbClr val="616161"/>
              </a:solidFill>
              <a:latin typeface="Proxima Nova" panose="02000506030000020004"/>
            </a:endParaRPr>
          </a:p>
        </p:txBody>
      </p:sp>
      <p:sp>
        <p:nvSpPr>
          <p:cNvPr id="10" name="Rectangle 9"/>
          <p:cNvSpPr/>
          <p:nvPr/>
        </p:nvSpPr>
        <p:spPr>
          <a:xfrm>
            <a:off x="4724400" y="1508670"/>
            <a:ext cx="4190999" cy="295007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pic>
        <p:nvPicPr>
          <p:cNvPr id="12" name="Picture 11" descr="tmph0lp4iti.png"/>
          <p:cNvPicPr>
            <a:picLocks noChangeAspect="1"/>
          </p:cNvPicPr>
          <p:nvPr/>
        </p:nvPicPr>
        <p:blipFill>
          <a:blip r:embed="rId1"/>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4400" y="3947070"/>
            <a:ext cx="4190999" cy="138430"/>
          </a:xfrm>
          <a:prstGeom prst="rect">
            <a:avLst/>
          </a:prstGeom>
          <a:noFill/>
          <a:ln>
            <a:noFill/>
          </a:ln>
        </p:spPr>
        <p:txBody>
          <a:bodyPr wrap="square" lIns="0" tIns="0" rIns="0" bIns="0" anchor="t">
            <a:spAutoFit/>
          </a:bodyPr>
          <a:lstStyle/>
          <a:p>
            <a:pPr algn="r">
              <a:spcAft>
                <a:spcPts val="1200"/>
              </a:spcAft>
            </a:pPr>
            <a:endParaRPr sz="900" b="0" i="0">
              <a:solidFill>
                <a:srgbClr val="616161"/>
              </a:solidFill>
              <a:latin typeface="Proxima Nova" panose="020005060300000200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End-to-End System Architecture</a:t>
            </a:r>
          </a:p>
        </p:txBody>
      </p:sp>
      <p:sp>
        <p:nvSpPr>
          <p:cNvPr id="4" name="Subtitle 3"/>
          <p:cNvSpPr>
            <a:spLocks noGrp="1"/>
          </p:cNvSpPr>
          <p:nvPr>
            <p:ph type="subTitle" idx="13"/>
          </p:nvPr>
        </p:nvSpPr>
        <p:spPr/>
        <p:txBody>
          <a:bodyPr>
            <a:normAutofit/>
          </a:bodyPr>
          <a:lstStyle/>
          <a:p>
            <a:r>
              <a:t>From Document to Intelligent Answer</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panose="02000506030000020004"/>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508670"/>
            <a:ext cx="8686800" cy="2856904"/>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panose="020B0604020202020204"/>
              <a:buChar char="•"/>
            </a:pPr>
            <a:r>
              <a:rPr sz="1300" b="1" i="0">
                <a:solidFill>
                  <a:srgbClr val="616161"/>
                </a:solidFill>
                <a:latin typeface="Proxima Nova" panose="02000506030000020004"/>
              </a:rPr>
              <a:t>1. Document Ingestion:</a:t>
            </a:r>
            <a:r>
              <a:rPr sz="1300" b="0" i="0">
                <a:solidFill>
                  <a:srgbClr val="616161"/>
                </a:solidFill>
                <a:latin typeface="Proxima Nova" panose="02000506030000020004"/>
              </a:rPr>
              <a:t> Documents are uploaded and processed through Azure Document Intelligence to extract data and metadata.</a:t>
            </a:r>
            <a:endParaRPr sz="1300" b="0" i="0">
              <a:solidFill>
                <a:srgbClr val="616161"/>
              </a:solidFill>
              <a:latin typeface="Proxima Nova" panose="02000506030000020004"/>
            </a:endParaRPr>
          </a:p>
          <a:p>
            <a:pPr marL="228600" lvl="1" indent="-91440" algn="l">
              <a:spcBef>
                <a:spcPts val="1200"/>
              </a:spcBef>
              <a:spcAft>
                <a:spcPts val="0"/>
              </a:spcAft>
              <a:buSzPct val="100000"/>
              <a:buFont typeface="Arial" panose="020B0604020202020204"/>
              <a:buChar char="•"/>
            </a:pPr>
            <a:r>
              <a:rPr sz="1300" b="1" i="0">
                <a:solidFill>
                  <a:srgbClr val="616161"/>
                </a:solidFill>
                <a:latin typeface="Proxima Nova" panose="02000506030000020004"/>
              </a:rPr>
              <a:t>2. Embedding &amp; Storage:</a:t>
            </a:r>
            <a:r>
              <a:rPr sz="1300" b="0" i="0">
                <a:solidFill>
                  <a:srgbClr val="616161"/>
                </a:solidFill>
                <a:latin typeface="Proxima Nova" panose="02000506030000020004"/>
              </a:rPr>
              <a:t> Text embedding models generate vector representations stored in PostgreSQL for efficient semantic search.</a:t>
            </a:r>
            <a:endParaRPr sz="1300" b="0" i="0">
              <a:solidFill>
                <a:srgbClr val="616161"/>
              </a:solidFill>
              <a:latin typeface="Proxima Nova" panose="02000506030000020004"/>
            </a:endParaRPr>
          </a:p>
          <a:p>
            <a:pPr marL="228600" lvl="1" indent="-91440" algn="l">
              <a:spcBef>
                <a:spcPts val="1200"/>
              </a:spcBef>
              <a:spcAft>
                <a:spcPts val="0"/>
              </a:spcAft>
              <a:buSzPct val="100000"/>
              <a:buFont typeface="Arial" panose="020B0604020202020204"/>
              <a:buChar char="•"/>
            </a:pPr>
            <a:r>
              <a:rPr sz="1300" b="1" i="0">
                <a:solidFill>
                  <a:srgbClr val="616161"/>
                </a:solidFill>
                <a:latin typeface="Proxima Nova" panose="02000506030000020004"/>
              </a:rPr>
              <a:t>3. Semantic Retrieval:</a:t>
            </a:r>
            <a:r>
              <a:rPr sz="1300" b="0" i="0">
                <a:solidFill>
                  <a:srgbClr val="616161"/>
                </a:solidFill>
                <a:latin typeface="Proxima Nova" panose="02000506030000020004"/>
              </a:rPr>
              <a:t> User queries are embedded and compared to stored vectors, retrieving the top five most semantically relevant chunks.</a:t>
            </a:r>
            <a:endParaRPr sz="1300" b="0" i="0">
              <a:solidFill>
                <a:srgbClr val="616161"/>
              </a:solidFill>
              <a:latin typeface="Proxima Nova" panose="02000506030000020004"/>
            </a:endParaRPr>
          </a:p>
          <a:p>
            <a:pPr marL="228600" lvl="1" indent="-91440" algn="l">
              <a:spcBef>
                <a:spcPts val="1200"/>
              </a:spcBef>
              <a:spcAft>
                <a:spcPts val="0"/>
              </a:spcAft>
              <a:buSzPct val="100000"/>
              <a:buFont typeface="Arial" panose="020B0604020202020204"/>
              <a:buChar char="•"/>
            </a:pPr>
            <a:r>
              <a:rPr sz="1300" b="1" i="0">
                <a:solidFill>
                  <a:srgbClr val="616161"/>
                </a:solidFill>
                <a:latin typeface="Proxima Nova" panose="02000506030000020004"/>
              </a:rPr>
              <a:t>4. LLM Response Generation:</a:t>
            </a:r>
            <a:r>
              <a:rPr sz="1300" b="0" i="0">
                <a:solidFill>
                  <a:srgbClr val="616161"/>
                </a:solidFill>
                <a:latin typeface="Proxima Nova" panose="02000506030000020004"/>
              </a:rPr>
              <a:t> Retrieved chunks feed the Large Language Model to generate context-aware, grounded responses.</a:t>
            </a:r>
            <a:endParaRPr sz="1300" b="0" i="0">
              <a:solidFill>
                <a:srgbClr val="616161"/>
              </a:solidFill>
              <a:latin typeface="Proxima Nova" panose="02000506030000020004"/>
            </a:endParaRPr>
          </a:p>
          <a:p>
            <a:pPr marL="228600" lvl="1" indent="-91440" algn="l">
              <a:spcBef>
                <a:spcPts val="1200"/>
              </a:spcBef>
              <a:spcAft>
                <a:spcPts val="0"/>
              </a:spcAft>
              <a:buSzPct val="100000"/>
              <a:buFont typeface="Arial" panose="020B0604020202020204"/>
              <a:buChar char="•"/>
            </a:pPr>
            <a:r>
              <a:rPr sz="1300" b="1" i="0">
                <a:solidFill>
                  <a:srgbClr val="616161"/>
                </a:solidFill>
                <a:latin typeface="Proxima Nova" panose="02000506030000020004"/>
              </a:rPr>
              <a:t>5. Angular Frontend:</a:t>
            </a:r>
            <a:r>
              <a:rPr sz="1300" b="0" i="0">
                <a:solidFill>
                  <a:srgbClr val="616161"/>
                </a:solidFill>
                <a:latin typeface="Proxima Nova" panose="02000506030000020004"/>
              </a:rPr>
              <a:t> Responses are delivered to the user via a real-time, interactive Angular application interface.</a:t>
            </a:r>
            <a:endParaRPr sz="1300" b="0" i="0">
              <a:solidFill>
                <a:srgbClr val="616161"/>
              </a:solidFill>
              <a:latin typeface="Proxima Nova" panose="020005060300000200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lstStyle/>
          <a:p>
            <a:r>
              <a:t>Future Enhancements &amp; Acknowledgement</a:t>
            </a:r>
          </a:p>
        </p:txBody>
      </p:sp>
      <p:sp>
        <p:nvSpPr>
          <p:cNvPr id="4" name="Subtitle 3"/>
          <p:cNvSpPr>
            <a:spLocks noGrp="1"/>
          </p:cNvSpPr>
          <p:nvPr>
            <p:ph type="subTitle" idx="13"/>
          </p:nvPr>
        </p:nvSpPr>
        <p:spPr/>
        <p:txBody>
          <a:bodyPr>
            <a:normAutofit/>
          </a:bodyPr>
          <a:lstStyle/>
          <a:p>
            <a:r>
              <a:t>Scaling Intelligence and Expressing Gratitude</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b="0" i="0">
                <a:solidFill>
                  <a:srgbClr val="616161"/>
                </a:solidFill>
                <a:latin typeface="Proxima Nova" panose="02000506030000020004"/>
              </a:defRPr>
            </a:pPr>
          </a:p>
        </p:txBody>
      </p:sp>
      <p:sp>
        <p:nvSpPr>
          <p:cNvPr id="7" name="Rectangle 6"/>
          <p:cNvSpPr/>
          <p:nvPr/>
        </p:nvSpPr>
        <p:spPr>
          <a:xfrm>
            <a:off x="228600" y="1508670"/>
            <a:ext cx="8686800" cy="317256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317256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508670"/>
            <a:ext cx="4190999" cy="374650"/>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94000"/>
              <a:buFont typeface="Arial" panose="020B0604020202020204"/>
              <a:buChar char="•"/>
            </a:pPr>
            <a:endParaRPr sz="1200" b="0" i="0">
              <a:solidFill>
                <a:srgbClr val="616161"/>
              </a:solidFill>
              <a:latin typeface="Proxima Nova" panose="02000506030000020004"/>
            </a:endParaRPr>
          </a:p>
        </p:txBody>
      </p:sp>
      <p:sp>
        <p:nvSpPr>
          <p:cNvPr id="10" name="Rectangle 9"/>
          <p:cNvSpPr/>
          <p:nvPr/>
        </p:nvSpPr>
        <p:spPr>
          <a:xfrm>
            <a:off x="4724400" y="1508670"/>
            <a:ext cx="4190999" cy="317256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pic>
        <p:nvPicPr>
          <p:cNvPr id="12" name="Picture 11" descr="tmpz174j7sg.png"/>
          <p:cNvPicPr>
            <a:picLocks noChangeAspect="1"/>
          </p:cNvPicPr>
          <p:nvPr/>
        </p:nvPicPr>
        <p:blipFill>
          <a:blip r:embed="rId1"/>
          <a:stretch>
            <a:fillRect/>
          </a:stretch>
        </p:blipFill>
        <p:spPr>
          <a:xfrm>
            <a:off x="-66040" y="-1191260"/>
            <a:ext cx="8981440" cy="506222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4400" y="3947070"/>
            <a:ext cx="4190999" cy="138430"/>
          </a:xfrm>
          <a:prstGeom prst="rect">
            <a:avLst/>
          </a:prstGeom>
          <a:noFill/>
          <a:ln>
            <a:noFill/>
          </a:ln>
        </p:spPr>
        <p:txBody>
          <a:bodyPr wrap="square" lIns="0" tIns="0" rIns="0" bIns="0" anchor="t">
            <a:spAutoFit/>
          </a:bodyPr>
          <a:lstStyle/>
          <a:p>
            <a:pPr algn="r">
              <a:spcAft>
                <a:spcPts val="1200"/>
              </a:spcAft>
            </a:pPr>
            <a:endParaRPr sz="900" b="0" i="0">
              <a:solidFill>
                <a:srgbClr val="616161"/>
              </a:solidFill>
              <a:latin typeface="Proxima Nova" panose="02000506030000020004"/>
            </a:endParaRP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5856</Words>
  <Application>WPS Presentation</Application>
  <PresentationFormat>On-screen Show (16:9)</PresentationFormat>
  <Paragraphs>91</Paragraphs>
  <Slides>9</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Arial</vt:lpstr>
      <vt:lpstr>SimSun</vt:lpstr>
      <vt:lpstr>Wingdings</vt:lpstr>
      <vt:lpstr>Arial</vt:lpstr>
      <vt:lpstr>Proxima Nova</vt:lpstr>
      <vt:lpstr>Microsoft YaHei</vt:lpstr>
      <vt:lpstr>Arial Unicode MS</vt:lpstr>
      <vt:lpstr>Spearmint</vt:lpstr>
      <vt:lpstr>Introduction to the RAG Application</vt:lpstr>
      <vt:lpstr>Document Ingestion Pipeline</vt:lpstr>
      <vt:lpstr>Azure Document Intelligence Extraction</vt:lpstr>
      <vt:lpstr>Embedding Generation and Vector Storage</vt:lpstr>
      <vt:lpstr>Query Workflow and Semantic Search</vt:lpstr>
      <vt:lpstr>LLM Response Generation</vt:lpstr>
      <vt:lpstr>Frontend Integration: Angular App</vt:lpstr>
      <vt:lpstr>End-to-End System Architecture</vt:lpstr>
      <vt:lpstr>Future Enhancements &amp; Acknowledgement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Arun S</cp:lastModifiedBy>
  <cp:revision>4</cp:revision>
  <dcterms:created xsi:type="dcterms:W3CDTF">2025-11-03T17:11:03Z</dcterms:created>
  <dcterms:modified xsi:type="dcterms:W3CDTF">2025-11-04T08:59:32Z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D281F467CF814BE68BBBC86C2C76580D_12</vt:lpwstr>
  </property>
  <property fmtid="{D5CDD505-2E9C-101B-9397-08002B2CF9AE}" pid="3" name="KSOProductBuildVer">
    <vt:lpwstr>1033-12.2.0.23131</vt:lpwstr>
  </property>
</Properties>
</file>