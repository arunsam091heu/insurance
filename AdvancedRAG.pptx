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66" r:id="rId3"/>
    <p:sldId id="267" r:id="rId4"/>
    <p:sldId id="268" r:id="rId5"/>
  </p:sldIdLst>
  <p:sldSz cx="9144000" cy="5143500" type="screen16x9"/>
  <p:notesSz cx="6858000" cy="9144000"/>
  <p:embeddedFontLst>
    <p:embeddedFont>
      <p:font typeface="Proxima Nova" panose="02000506030000020004"/>
      <p:regular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42" d="100"/>
          <a:sy n="142" d="100"/>
        </p:scale>
        <p:origin x="192" y="3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Section header">
  <p:cSld name="SECTION_HEADER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4"/>
                </a:solidFill>
              </a:defRPr>
            </a:lvl1pPr>
            <a:lvl2pPr lvl="1">
              <a:buNone/>
              <a:defRPr>
                <a:solidFill>
                  <a:schemeClr val="accent4"/>
                </a:solidFill>
              </a:defRPr>
            </a:lvl2pPr>
            <a:lvl3pPr lvl="2">
              <a:buNone/>
              <a:defRPr>
                <a:solidFill>
                  <a:schemeClr val="accent4"/>
                </a:solidFill>
              </a:defRPr>
            </a:lvl3pPr>
            <a:lvl4pPr lvl="3">
              <a:buNone/>
              <a:defRPr>
                <a:solidFill>
                  <a:schemeClr val="accent4"/>
                </a:solidFill>
              </a:defRPr>
            </a:lvl4pPr>
            <a:lvl5pPr lvl="4">
              <a:buNone/>
              <a:defRPr>
                <a:solidFill>
                  <a:schemeClr val="accent4"/>
                </a:solidFill>
              </a:defRPr>
            </a:lvl5pPr>
            <a:lvl6pPr lvl="5">
              <a:buNone/>
              <a:defRPr>
                <a:solidFill>
                  <a:schemeClr val="accent4"/>
                </a:solidFill>
              </a:defRPr>
            </a:lvl6pPr>
            <a:lvl7pPr lvl="6">
              <a:buNone/>
              <a:defRPr>
                <a:solidFill>
                  <a:schemeClr val="accent4"/>
                </a:solidFill>
              </a:defRPr>
            </a:lvl7pPr>
            <a:lvl8pPr lvl="7">
              <a:buNone/>
              <a:defRPr>
                <a:solidFill>
                  <a:schemeClr val="accent4"/>
                </a:solidFill>
              </a:defRPr>
            </a:lvl8pPr>
            <a:lvl9pPr lvl="8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87975" y="789025"/>
            <a:ext cx="8520600" cy="8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Agenda">
  <p:cSld name="TITLE_AND_BODY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311700" y="0"/>
            <a:ext cx="8520600" cy="7129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94734"/>
            <a:ext cx="8520600" cy="3850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832297" y="4863993"/>
            <a:ext cx="311411" cy="1928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311699" y="712926"/>
            <a:ext cx="8520599" cy="481810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4"/>
                </a:solidFill>
              </a:defRPr>
            </a:lvl1pPr>
            <a:lvl2pPr lvl="1">
              <a:buNone/>
              <a:defRPr>
                <a:solidFill>
                  <a:schemeClr val="accent4"/>
                </a:solidFill>
              </a:defRPr>
            </a:lvl2pPr>
            <a:lvl3pPr lvl="2">
              <a:buNone/>
              <a:defRPr>
                <a:solidFill>
                  <a:schemeClr val="accent4"/>
                </a:solidFill>
              </a:defRPr>
            </a:lvl3pPr>
            <a:lvl4pPr lvl="3">
              <a:buNone/>
              <a:defRPr>
                <a:solidFill>
                  <a:schemeClr val="accent4"/>
                </a:solidFill>
              </a:defRPr>
            </a:lvl4pPr>
            <a:lvl5pPr lvl="4">
              <a:buNone/>
              <a:defRPr>
                <a:solidFill>
                  <a:schemeClr val="accent4"/>
                </a:solidFill>
              </a:defRPr>
            </a:lvl5pPr>
            <a:lvl6pPr lvl="5">
              <a:buNone/>
              <a:defRPr>
                <a:solidFill>
                  <a:schemeClr val="accent4"/>
                </a:solidFill>
              </a:defRPr>
            </a:lvl6pPr>
            <a:lvl7pPr lvl="6">
              <a:buNone/>
              <a:defRPr>
                <a:solidFill>
                  <a:schemeClr val="accent4"/>
                </a:solidFill>
              </a:defRPr>
            </a:lvl7pPr>
            <a:lvl8pPr lvl="7">
              <a:buNone/>
              <a:defRPr>
                <a:solidFill>
                  <a:schemeClr val="accent4"/>
                </a:solidFill>
              </a:defRPr>
            </a:lvl8pPr>
            <a:lvl9pPr lvl="8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3" name="Google Shape;33;p6"/>
          <p:cNvSpPr txBox="1">
            <a:spLocks noGrp="1"/>
          </p:cNvSpPr>
          <p:nvPr>
            <p:ph type="subTitle" idx="3"/>
          </p:nvPr>
        </p:nvSpPr>
        <p:spPr>
          <a:xfrm>
            <a:off x="386975" y="864000"/>
            <a:ext cx="83682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4" name="Google Shape;34;p6"/>
          <p:cNvSpPr txBox="1">
            <a:spLocks noGrp="1"/>
          </p:cNvSpPr>
          <p:nvPr>
            <p:ph type="body" idx="4"/>
          </p:nvPr>
        </p:nvSpPr>
        <p:spPr>
          <a:xfrm>
            <a:off x="4813725" y="3822525"/>
            <a:ext cx="3999900" cy="2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3050" algn="r" rtl="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marL="914400" lvl="1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2pPr>
            <a:lvl3pPr marL="1371600" lvl="2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3pPr>
            <a:lvl4pPr marL="1828800" lvl="3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4pPr>
            <a:lvl5pPr marL="2286000" lvl="4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5pPr>
            <a:lvl6pPr marL="2743200" lvl="5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6pPr>
            <a:lvl7pPr marL="3200400" lvl="6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7pPr>
            <a:lvl8pPr marL="3657600" lvl="7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8pPr>
            <a:lvl9pPr marL="4114800" lvl="8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>
            <a:spLocks noGrp="1"/>
          </p:cNvSpPr>
          <p:nvPr>
            <p:ph type="body" idx="2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0"/>
          <p:cNvSpPr txBox="1">
            <a:spLocks noGrp="1"/>
          </p:cNvSpPr>
          <p:nvPr>
            <p:ph type="subTitle" idx="3"/>
          </p:nvPr>
        </p:nvSpPr>
        <p:spPr>
          <a:xfrm>
            <a:off x="386975" y="787800"/>
            <a:ext cx="83682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2" name="Google Shape;52;p10"/>
          <p:cNvSpPr txBox="1">
            <a:spLocks noGrp="1"/>
          </p:cNvSpPr>
          <p:nvPr>
            <p:ph type="body" idx="4"/>
          </p:nvPr>
        </p:nvSpPr>
        <p:spPr>
          <a:xfrm>
            <a:off x="4813725" y="3822525"/>
            <a:ext cx="3999900" cy="2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3050" algn="r" rtl="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marL="914400" lvl="1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2pPr>
            <a:lvl3pPr marL="1371600" lvl="2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3pPr>
            <a:lvl4pPr marL="1828800" lvl="3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4pPr>
            <a:lvl5pPr marL="2286000" lvl="4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5pPr>
            <a:lvl6pPr marL="2743200" lvl="5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6pPr>
            <a:lvl7pPr marL="3200400" lvl="6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7pPr>
            <a:lvl8pPr marL="3657600" lvl="7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8pPr>
            <a:lvl9pPr marL="4114800" lvl="8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9pPr>
          </a:lstStyle>
          <a:p/>
        </p:txBody>
      </p:sp>
      <p:sp>
        <p:nvSpPr>
          <p:cNvPr id="53" name="Google Shape;53;p10"/>
          <p:cNvSpPr txBox="1">
            <a:spLocks noGrp="1"/>
          </p:cNvSpPr>
          <p:nvPr>
            <p:ph type="sldNum" idx="5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12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 panose="02000506030000020004"/>
              <a:buChar char="●"/>
              <a:defRPr sz="18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○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■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●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○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■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●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○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■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Advanced RAG: Query Expansion for Insurance Intelligence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t>Enhancing Retrieval Accuracy through Multi-Variant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0" i="0">
                <a:solidFill>
                  <a:srgbClr val="616161"/>
                </a:solidFill>
                <a:latin typeface="Proxima Nova" panose="02000506030000020004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508670"/>
            <a:ext cx="4172694" cy="3344614"/>
          </a:xfrm>
          <a:prstGeom prst="rect">
            <a:avLst/>
          </a:prstGeom>
          <a:noFill/>
          <a:ln>
            <a:noFill/>
          </a:ln>
        </p:spPr>
        <p:txBody>
          <a:bodyPr wrap="square" lIns="165100" tIns="0" rIns="0" bIns="190500" anchor="t">
            <a:spAutoFit/>
          </a:bodyPr>
          <a:lstStyle/>
          <a:p>
            <a:pPr marL="228600" indent="-91440" algn="l">
              <a:spcBef>
                <a:spcPts val="0"/>
              </a:spcBef>
              <a:spcAft>
                <a:spcPts val="800"/>
              </a:spcAft>
              <a:buSzPct val="83000"/>
              <a:buFont typeface="Arial" panose="020B0604020202020204"/>
              <a:buChar char="•"/>
            </a:pPr>
            <a:r>
              <a:rPr sz="1000" b="1" i="0">
                <a:solidFill>
                  <a:srgbClr val="1F2728"/>
                </a:solidFill>
                <a:latin typeface="Roboto"/>
              </a:rPr>
              <a:t>Query Expansion via LLM:</a:t>
            </a:r>
            <a:r>
              <a:rPr sz="1000" b="0" i="0">
                <a:solidFill>
                  <a:srgbClr val="1F2728"/>
                </a:solidFill>
                <a:latin typeface="Roboto"/>
              </a:rPr>
              <a:t> When a user submits a question, the LLM generates four semantically varied versions of the query while keeping the core meaning intact—optimized for the insurance and underwriting context.</a:t>
            </a:r>
            <a:endParaRPr sz="1000" b="0" i="0">
              <a:solidFill>
                <a:srgbClr val="1F2728"/>
              </a:solidFill>
              <a:latin typeface="Roboto"/>
            </a:endParaRPr>
          </a:p>
          <a:p>
            <a:pPr marL="228600" lvl="1" indent="-91440" algn="l">
              <a:spcBef>
                <a:spcPts val="0"/>
              </a:spcBef>
              <a:spcAft>
                <a:spcPts val="800"/>
              </a:spcAft>
              <a:buSzPct val="83000"/>
              <a:buFont typeface="Arial" panose="020B0604020202020204"/>
              <a:buChar char="•"/>
            </a:pPr>
            <a:r>
              <a:rPr sz="1000" b="1" i="0">
                <a:solidFill>
                  <a:srgbClr val="1F2728"/>
                </a:solidFill>
                <a:latin typeface="Roboto"/>
              </a:rPr>
              <a:t>Contextual Diversity:</a:t>
            </a:r>
            <a:r>
              <a:rPr sz="1000" b="0" i="0">
                <a:solidFill>
                  <a:srgbClr val="1F2728"/>
                </a:solidFill>
                <a:latin typeface="Roboto"/>
              </a:rPr>
              <a:t> These variations explore related phrasing and synonyms, improving the system’s ability to capture relevant but differently worded information in the vector database.</a:t>
            </a:r>
            <a:endParaRPr sz="1000" b="0" i="0">
              <a:solidFill>
                <a:srgbClr val="1F2728"/>
              </a:solidFill>
              <a:latin typeface="Roboto"/>
            </a:endParaRPr>
          </a:p>
          <a:p>
            <a:pPr marL="228600" lvl="1" indent="-91440" algn="l">
              <a:spcBef>
                <a:spcPts val="0"/>
              </a:spcBef>
              <a:spcAft>
                <a:spcPts val="800"/>
              </a:spcAft>
              <a:buSzPct val="83000"/>
              <a:buFont typeface="Arial" panose="020B0604020202020204"/>
              <a:buChar char="•"/>
            </a:pPr>
            <a:r>
              <a:rPr sz="1000" b="1" i="0">
                <a:solidFill>
                  <a:srgbClr val="1F2728"/>
                </a:solidFill>
                <a:latin typeface="Roboto"/>
              </a:rPr>
              <a:t>Deduplication of Results:</a:t>
            </a:r>
            <a:r>
              <a:rPr sz="1000" b="0" i="0">
                <a:solidFill>
                  <a:srgbClr val="1F2728"/>
                </a:solidFill>
                <a:latin typeface="Roboto"/>
              </a:rPr>
              <a:t> All five queries (original + four expanded) are passed to the vector store. Overlapping or duplicate chunks are automatically filtered out to maintain unique contextual coverage.</a:t>
            </a:r>
            <a:endParaRPr sz="1000" b="0" i="0">
              <a:solidFill>
                <a:srgbClr val="1F2728"/>
              </a:solidFill>
              <a:latin typeface="Roboto"/>
            </a:endParaRPr>
          </a:p>
          <a:p>
            <a:pPr marL="228600" lvl="1" indent="-91440" algn="l">
              <a:spcBef>
                <a:spcPts val="0"/>
              </a:spcBef>
              <a:spcAft>
                <a:spcPts val="0"/>
              </a:spcAft>
              <a:buSzPct val="83000"/>
              <a:buFont typeface="Arial" panose="020B0604020202020204"/>
              <a:buChar char="•"/>
            </a:pPr>
            <a:r>
              <a:rPr sz="1000" b="1" i="0">
                <a:solidFill>
                  <a:srgbClr val="1F2728"/>
                </a:solidFill>
                <a:latin typeface="Roboto"/>
              </a:rPr>
              <a:t>Comprehensive Response Generation:</a:t>
            </a:r>
            <a:r>
              <a:rPr sz="1000" b="0" i="0">
                <a:solidFill>
                  <a:srgbClr val="1F2728"/>
                </a:solidFill>
                <a:latin typeface="Roboto"/>
              </a:rPr>
              <a:t> The final set of unique contexts is combined and sent back to the LLM, ensuring that the generated response integrates multiple perspectives without redundancy.</a:t>
            </a:r>
            <a:endParaRPr sz="1000" b="0" i="0">
              <a:solidFill>
                <a:srgbClr val="1F2728"/>
              </a:solidFill>
              <a:latin typeface="Roboto"/>
            </a:endParaRPr>
          </a:p>
          <a:p>
            <a:endParaRPr sz="1000"/>
          </a:p>
        </p:txBody>
      </p:sp>
      <p:sp>
        <p:nvSpPr>
          <p:cNvPr id="11" name="Rectangle 10"/>
          <p:cNvSpPr/>
          <p:nvPr/>
        </p:nvSpPr>
        <p:spPr>
          <a:xfrm>
            <a:off x="4589710" y="1508670"/>
            <a:ext cx="4173140" cy="25814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89710" y="1508670"/>
            <a:ext cx="4173140" cy="25814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9710" y="1508670"/>
            <a:ext cx="4173140" cy="23492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</a:p>
        </p:txBody>
      </p:sp>
      <p:pic>
        <p:nvPicPr>
          <p:cNvPr id="14" name="Picture 13" descr="tmpalv6574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9710" y="1508670"/>
            <a:ext cx="4173140" cy="234925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89710" y="3934122"/>
            <a:ext cx="4173140" cy="1558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9710" y="3934122"/>
            <a:ext cx="4173140" cy="1558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1F2728"/>
                </a:solidFill>
                <a:latin typeface="Roboto"/>
              </a:rPr>
              <a:t>Photo by Voicu Apostol on Unsplash</a:t>
            </a:r>
            <a:endParaRPr sz="800" b="0" i="0">
              <a:solidFill>
                <a:srgbClr val="1F2728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Advanced RAG: Multi-Query Intelligence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t>Boosting Precision and Depth in AI-Driven Insurance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0" i="0">
                <a:solidFill>
                  <a:srgbClr val="616161"/>
                </a:solidFill>
                <a:latin typeface="Proxima Nova" panose="02000506030000020004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508670"/>
            <a:ext cx="4172694" cy="3344614"/>
          </a:xfrm>
          <a:prstGeom prst="rect">
            <a:avLst/>
          </a:prstGeom>
          <a:noFill/>
          <a:ln>
            <a:noFill/>
          </a:ln>
        </p:spPr>
        <p:txBody>
          <a:bodyPr wrap="square" lIns="165100" tIns="0" rIns="0" bIns="190500" anchor="t">
            <a:spAutoFit/>
          </a:bodyPr>
          <a:lstStyle/>
          <a:p>
            <a:pPr marL="228600" indent="-91440" algn="l">
              <a:spcBef>
                <a:spcPts val="0"/>
              </a:spcBef>
              <a:spcAft>
                <a:spcPts val="800"/>
              </a:spcAft>
              <a:buSzPct val="89000"/>
              <a:buFont typeface="Arial" panose="020B0604020202020204"/>
              <a:buChar char="•"/>
            </a:pPr>
            <a:r>
              <a:rPr sz="1100" b="1" i="0">
                <a:solidFill>
                  <a:srgbClr val="1F2728"/>
                </a:solidFill>
                <a:latin typeface="Roboto"/>
              </a:rPr>
              <a:t>Dynamic Query Expansion:</a:t>
            </a:r>
            <a:r>
              <a:rPr sz="1100" b="0" i="0">
                <a:solidFill>
                  <a:srgbClr val="1F2728"/>
                </a:solidFill>
                <a:latin typeface="Roboto"/>
              </a:rPr>
              <a:t> The LLM automatically creates four contextual variations of each user query, exploring multiple ways of phrasing the same intent to uncover deeper document matches.</a:t>
            </a:r>
            <a:endParaRPr sz="1100" b="0" i="0">
              <a:solidFill>
                <a:srgbClr val="1F2728"/>
              </a:solidFill>
              <a:latin typeface="Roboto"/>
            </a:endParaRPr>
          </a:p>
          <a:p>
            <a:pPr marL="228600" lvl="1" indent="-91440" algn="l">
              <a:spcBef>
                <a:spcPts val="0"/>
              </a:spcBef>
              <a:spcAft>
                <a:spcPts val="800"/>
              </a:spcAft>
              <a:buSzPct val="89000"/>
              <a:buFont typeface="Arial" panose="020B0604020202020204"/>
              <a:buChar char="•"/>
            </a:pPr>
            <a:r>
              <a:rPr sz="1100" b="1" i="0">
                <a:solidFill>
                  <a:srgbClr val="1F2728"/>
                </a:solidFill>
                <a:latin typeface="Roboto"/>
              </a:rPr>
              <a:t>Insurance Domain Alignment:</a:t>
            </a:r>
            <a:r>
              <a:rPr sz="1100" b="0" i="0">
                <a:solidFill>
                  <a:srgbClr val="1F2728"/>
                </a:solidFill>
                <a:latin typeface="Roboto"/>
              </a:rPr>
              <a:t> Each variation is tailored to insurance and underwriting terminology, ensuring domain relevance and higher retrieval accuracy across industry-specific datasets.</a:t>
            </a:r>
            <a:endParaRPr sz="1100" b="0" i="0">
              <a:solidFill>
                <a:srgbClr val="1F2728"/>
              </a:solidFill>
              <a:latin typeface="Roboto"/>
            </a:endParaRPr>
          </a:p>
          <a:p>
            <a:pPr marL="228600" lvl="1" indent="-91440" algn="l">
              <a:spcBef>
                <a:spcPts val="0"/>
              </a:spcBef>
              <a:spcAft>
                <a:spcPts val="800"/>
              </a:spcAft>
              <a:buSzPct val="89000"/>
              <a:buFont typeface="Arial" panose="020B0604020202020204"/>
              <a:buChar char="•"/>
            </a:pPr>
            <a:r>
              <a:rPr sz="1100" b="1" i="0">
                <a:solidFill>
                  <a:srgbClr val="1F2728"/>
                </a:solidFill>
                <a:latin typeface="Roboto"/>
              </a:rPr>
              <a:t>Smart Deduplication:</a:t>
            </a:r>
            <a:r>
              <a:rPr sz="1100" b="0" i="0">
                <a:solidFill>
                  <a:srgbClr val="1F2728"/>
                </a:solidFill>
                <a:latin typeface="Roboto"/>
              </a:rPr>
              <a:t> After retrieving results for all query variants, duplicate content is filtered out to maintain unique and high-value insights for the next stage.</a:t>
            </a:r>
            <a:endParaRPr sz="1100" b="0" i="0">
              <a:solidFill>
                <a:srgbClr val="1F2728"/>
              </a:solidFill>
              <a:latin typeface="Roboto"/>
            </a:endParaRPr>
          </a:p>
          <a:p>
            <a:pPr marL="228600" lvl="1" indent="-91440" algn="l">
              <a:spcBef>
                <a:spcPts val="0"/>
              </a:spcBef>
              <a:spcAft>
                <a:spcPts val="0"/>
              </a:spcAft>
              <a:buSzPct val="89000"/>
              <a:buFont typeface="Arial" panose="020B0604020202020204"/>
              <a:buChar char="•"/>
            </a:pPr>
            <a:r>
              <a:rPr sz="1100" b="1" i="0">
                <a:solidFill>
                  <a:srgbClr val="1F2728"/>
                </a:solidFill>
                <a:latin typeface="Roboto"/>
              </a:rPr>
              <a:t>Comprehensive AI Response:</a:t>
            </a:r>
            <a:r>
              <a:rPr sz="1100" b="0" i="0">
                <a:solidFill>
                  <a:srgbClr val="1F2728"/>
                </a:solidFill>
                <a:latin typeface="Roboto"/>
              </a:rPr>
              <a:t> The unique, high-relevance contexts are combined and passed to the LLM to generate a well-rounded, evidence-grounded answer—rich in perspective and accuracy.</a:t>
            </a:r>
            <a:endParaRPr sz="1100" b="0" i="0">
              <a:solidFill>
                <a:srgbClr val="1F2728"/>
              </a:solidFill>
              <a:latin typeface="Roboto"/>
            </a:endParaRPr>
          </a:p>
          <a:p>
            <a:endParaRPr sz="1100"/>
          </a:p>
        </p:txBody>
      </p:sp>
      <p:sp>
        <p:nvSpPr>
          <p:cNvPr id="11" name="Rectangle 10"/>
          <p:cNvSpPr/>
          <p:nvPr/>
        </p:nvSpPr>
        <p:spPr>
          <a:xfrm>
            <a:off x="4589710" y="1508670"/>
            <a:ext cx="4173140" cy="258023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89710" y="1508670"/>
            <a:ext cx="4173140" cy="258023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9710" y="1508670"/>
            <a:ext cx="4173140" cy="2348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</a:p>
        </p:txBody>
      </p:sp>
      <p:pic>
        <p:nvPicPr>
          <p:cNvPr id="14" name="Picture 13" descr="tmpaz14am6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9710" y="1508670"/>
            <a:ext cx="4173140" cy="234806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89710" y="3932932"/>
            <a:ext cx="4173140" cy="1558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9710" y="3932932"/>
            <a:ext cx="4173140" cy="1558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1F2728"/>
                </a:solidFill>
                <a:latin typeface="Roboto"/>
              </a:rPr>
              <a:t>Photo by Denis Sebastian Tamas on Unsplash</a:t>
            </a:r>
            <a:endParaRPr sz="800" b="0" i="0">
              <a:solidFill>
                <a:srgbClr val="1F2728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Advanced RAG: Query Expansion Workflow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t>A Handwritten-Style Overview for Insurance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616161"/>
                </a:solidFill>
                <a:latin typeface="Proxima Nova" panose="02000506030000020004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5344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534400" cy="30767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508670"/>
            <a:ext cx="8534400" cy="3076723"/>
          </a:xfrm>
          <a:prstGeom prst="rect">
            <a:avLst/>
          </a:prstGeom>
          <a:noFill/>
          <a:ln>
            <a:noFill/>
          </a:ln>
        </p:spPr>
        <p:txBody>
          <a:bodyPr wrap="square" lIns="165100" tIns="0" rIns="0" bIns="190500" anchor="t">
            <a:spAutoFit/>
          </a:bodyPr>
          <a:lstStyle/>
          <a:p>
            <a:pPr marL="228600" indent="-91440" algn="l">
              <a:spcBef>
                <a:spcPts val="0"/>
              </a:spcBef>
              <a:spcAft>
                <a:spcPts val="1200"/>
              </a:spcAft>
              <a:buSzPct val="117000"/>
              <a:buFont typeface="Arial" panose="020B0604020202020204"/>
              <a:buChar char="•"/>
            </a:pPr>
            <a:r>
              <a:rPr sz="1600" b="1" i="0">
                <a:solidFill>
                  <a:srgbClr val="1F2728"/>
                </a:solidFill>
                <a:latin typeface="Roboto"/>
              </a:rPr>
              <a:t>Step 1: User Query:</a:t>
            </a:r>
            <a:r>
              <a:rPr sz="1600" b="0" i="0">
                <a:solidFill>
                  <a:srgbClr val="1F2728"/>
                </a:solidFill>
                <a:latin typeface="Roboto"/>
              </a:rPr>
              <a:t> A user asks a question related to underwriting or insurance appetite.</a:t>
            </a:r>
            <a:endParaRPr sz="1600" b="0" i="0">
              <a:solidFill>
                <a:srgbClr val="1F2728"/>
              </a:solidFill>
              <a:latin typeface="Roboto"/>
            </a:endParaRPr>
          </a:p>
          <a:p>
            <a:pPr marL="228600" lvl="1" indent="-91440" algn="l">
              <a:spcBef>
                <a:spcPts val="0"/>
              </a:spcBef>
              <a:spcAft>
                <a:spcPts val="1200"/>
              </a:spcAft>
              <a:buSzPct val="117000"/>
              <a:buFont typeface="Arial" panose="020B0604020202020204"/>
              <a:buChar char="•"/>
            </a:pPr>
            <a:r>
              <a:rPr sz="1600" b="1" i="0">
                <a:solidFill>
                  <a:srgbClr val="1F2728"/>
                </a:solidFill>
                <a:latin typeface="Roboto"/>
              </a:rPr>
              <a:t>Step 2: Query Expansion via LLM:</a:t>
            </a:r>
            <a:r>
              <a:rPr sz="1600" b="0" i="0">
                <a:solidFill>
                  <a:srgbClr val="1F2728"/>
                </a:solidFill>
                <a:latin typeface="Roboto"/>
              </a:rPr>
              <a:t> The Large Language Model generates four rephrased variations of the same question to capture multiple angles of meaning.</a:t>
            </a:r>
            <a:endParaRPr sz="1600" b="0" i="0">
              <a:solidFill>
                <a:srgbClr val="1F2728"/>
              </a:solidFill>
              <a:latin typeface="Roboto"/>
            </a:endParaRPr>
          </a:p>
          <a:p>
            <a:pPr marL="228600" lvl="1" indent="-91440" algn="l">
              <a:spcBef>
                <a:spcPts val="0"/>
              </a:spcBef>
              <a:spcAft>
                <a:spcPts val="1200"/>
              </a:spcAft>
              <a:buSzPct val="117000"/>
              <a:buFont typeface="Arial" panose="020B0604020202020204"/>
              <a:buChar char="•"/>
            </a:pPr>
            <a:r>
              <a:rPr sz="1600" b="1" i="0">
                <a:solidFill>
                  <a:srgbClr val="1F2728"/>
                </a:solidFill>
                <a:latin typeface="Roboto"/>
              </a:rPr>
              <a:t>Step 3: Vector Search:</a:t>
            </a:r>
            <a:r>
              <a:rPr sz="1600" b="0" i="0">
                <a:solidFill>
                  <a:srgbClr val="1F2728"/>
                </a:solidFill>
                <a:latin typeface="Roboto"/>
              </a:rPr>
              <a:t> All five queries (original + four expansions) are sent to the vector store to retrieve relevant chunks from documents.</a:t>
            </a:r>
            <a:endParaRPr sz="1600" b="0" i="0">
              <a:solidFill>
                <a:srgbClr val="1F2728"/>
              </a:solidFill>
              <a:latin typeface="Roboto"/>
            </a:endParaRPr>
          </a:p>
          <a:p>
            <a:pPr marL="228600" lvl="1" indent="-91440" algn="l">
              <a:spcBef>
                <a:spcPts val="0"/>
              </a:spcBef>
              <a:spcAft>
                <a:spcPts val="1200"/>
              </a:spcAft>
              <a:buSzPct val="117000"/>
              <a:buFont typeface="Arial" panose="020B0604020202020204"/>
              <a:buChar char="•"/>
            </a:pPr>
            <a:r>
              <a:rPr sz="1600" b="1" i="0">
                <a:solidFill>
                  <a:srgbClr val="1F2728"/>
                </a:solidFill>
                <a:latin typeface="Roboto"/>
              </a:rPr>
              <a:t>Step 4: Deduplication:</a:t>
            </a:r>
            <a:r>
              <a:rPr sz="1600" b="0" i="0">
                <a:solidFill>
                  <a:srgbClr val="1F2728"/>
                </a:solidFill>
                <a:latin typeface="Roboto"/>
              </a:rPr>
              <a:t> Duplicate or overlapping contexts are removed, leaving a unique set of information pieces.</a:t>
            </a:r>
            <a:endParaRPr sz="1600" b="0" i="0">
              <a:solidFill>
                <a:srgbClr val="1F2728"/>
              </a:solidFill>
              <a:latin typeface="Roboto"/>
            </a:endParaRPr>
          </a:p>
          <a:p>
            <a:pPr marL="228600" lvl="1" indent="-91440" algn="l">
              <a:spcBef>
                <a:spcPts val="0"/>
              </a:spcBef>
              <a:spcAft>
                <a:spcPts val="0"/>
              </a:spcAft>
              <a:buSzPct val="117000"/>
              <a:buFont typeface="Arial" panose="020B0604020202020204"/>
              <a:buChar char="•"/>
            </a:pPr>
            <a:r>
              <a:rPr sz="1600" b="1" i="0">
                <a:solidFill>
                  <a:srgbClr val="1F2728"/>
                </a:solidFill>
                <a:latin typeface="Roboto"/>
              </a:rPr>
              <a:t>Step 5: Final Response Generation:</a:t>
            </a:r>
            <a:r>
              <a:rPr sz="1600" b="0" i="0">
                <a:solidFill>
                  <a:srgbClr val="1F2728"/>
                </a:solidFill>
                <a:latin typeface="Roboto"/>
              </a:rPr>
              <a:t> The cleaned, diverse contexts are fed into the LLM again to craft one unified, accurate, and rich answer for the user.</a:t>
            </a:r>
            <a:endParaRPr sz="1600" b="0" i="0">
              <a:solidFill>
                <a:srgbClr val="1F2728"/>
              </a:solidFill>
              <a:latin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63D297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2551</Words>
  <Application>WPS Presentation</Application>
  <PresentationFormat>On-screen Show (16:9)</PresentationFormat>
  <Paragraphs>34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Arial</vt:lpstr>
      <vt:lpstr>Proxima Nova</vt:lpstr>
      <vt:lpstr>Roboto</vt:lpstr>
      <vt:lpstr>Times New Roman</vt:lpstr>
      <vt:lpstr>Microsoft YaHei</vt:lpstr>
      <vt:lpstr>Arial Unicode MS</vt:lpstr>
      <vt:lpstr>Spearmint</vt:lpstr>
      <vt:lpstr>Advanced RAG: Query Expansion for Insurance Intelligence</vt:lpstr>
      <vt:lpstr>Advanced RAG: Multi-Query Intelligence</vt:lpstr>
      <vt:lpstr>Advanced RAG: Query Expansion Workflow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Arun S</cp:lastModifiedBy>
  <cp:revision>4</cp:revision>
  <dcterms:created xsi:type="dcterms:W3CDTF">2025-11-14T09:04:24Z</dcterms:created>
  <dcterms:modified xsi:type="dcterms:W3CDTF">2025-11-14T09:05:48Z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D23B283A0D684664AAE269466D504481_12</vt:lpwstr>
  </property>
  <property fmtid="{D5CDD505-2E9C-101B-9397-08002B2CF9AE}" pid="3" name="KSOProductBuildVer">
    <vt:lpwstr>1033-12.2.0.23155</vt:lpwstr>
  </property>
</Properties>
</file>